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Encode Sans Semi Condensed SemiBold"/>
      <p:regular r:id="rId10"/>
    </p:embeddedFont>
    <p:embeddedFont>
      <p:font typeface="Fira Sans" panose="020B0503050000020004" pitchFamily="34" charset="0"/>
      <p:regular r:id="rId11"/>
    </p:embeddedFont>
    <p:embeddedFont>
      <p:font typeface="Fira Sans Bold" panose="020B0803050000020004" charset="0"/>
      <p:regular r:id="rId12"/>
    </p:embeddedFont>
    <p:embeddedFont>
      <p:font typeface="Fira Sans SemiBold" panose="020B0603050000020004" pitchFamily="34" charset="0"/>
      <p:regular r:id="rId13"/>
      <p:bold r:id="rId14"/>
    </p:embeddedFont>
    <p:embeddedFont>
      <p:font typeface="Overpass Mono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2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5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511" y="2337008"/>
            <a:ext cx="9919037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44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Paytm Clone Application(Full-Stack Digital Wallet and Payment Application)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9511" y="3864823"/>
            <a:ext cx="749241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Internship Project Presentation •  Batch 2026–27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9241" y="4487590"/>
            <a:ext cx="9312749" cy="248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ct val="104000"/>
              </a:lnSpc>
              <a:spcAft>
                <a:spcPts val="1450"/>
              </a:spcAft>
            </a:pPr>
            <a:r>
              <a:rPr lang="en-US" sz="1200" kern="100" spc="72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Student name: Akshat Verma </a:t>
            </a:r>
          </a:p>
          <a:p>
            <a:pPr lvl="1">
              <a:lnSpc>
                <a:spcPct val="104000"/>
              </a:lnSpc>
              <a:spcAft>
                <a:spcPts val="1450"/>
              </a:spcAft>
            </a:pPr>
            <a:r>
              <a:rPr lang="en-US" sz="1200" kern="100" spc="72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Roll number: CS-2341044 </a:t>
            </a:r>
          </a:p>
          <a:p>
            <a:pPr lvl="1">
              <a:lnSpc>
                <a:spcPct val="104000"/>
              </a:lnSpc>
              <a:spcAft>
                <a:spcPts val="1450"/>
              </a:spcAft>
            </a:pPr>
            <a:r>
              <a:rPr lang="en-US" sz="1200" kern="100" spc="72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Program &amp; semester : B.TECH CSE-- semester 7</a:t>
            </a:r>
          </a:p>
          <a:p>
            <a:pPr lvl="1">
              <a:lnSpc>
                <a:spcPct val="104000"/>
              </a:lnSpc>
              <a:spcAft>
                <a:spcPts val="1450"/>
              </a:spcAft>
            </a:pPr>
            <a:r>
              <a:rPr lang="en-US" sz="1200" kern="100" spc="72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Organization : HELOIX STARTUP MINDS PRIVATE LIMITED.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F40597-9879-7985-7288-A5B702414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030" y="192646"/>
            <a:ext cx="926672" cy="926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3E3ABC-7BF4-0337-83E4-115EDFC64A5A}"/>
              </a:ext>
            </a:extLst>
          </p:cNvPr>
          <p:cNvSpPr txBox="1"/>
          <p:nvPr/>
        </p:nvSpPr>
        <p:spPr>
          <a:xfrm>
            <a:off x="2426390" y="1319985"/>
            <a:ext cx="7339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Overpass Mono Medium" panose="020B0604020202020204" charset="0"/>
              </a:rPr>
              <a:t>IILM UNIVERSITY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Overpass Mono Medium" panose="020B0604020202020204" charset="0"/>
              </a:rPr>
              <a:t>SCHOOL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8043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Introduction &amp; 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11182" y="1246584"/>
            <a:ext cx="5156071" cy="4193877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4" name="Text 2"/>
          <p:cNvSpPr/>
          <p:nvPr/>
        </p:nvSpPr>
        <p:spPr>
          <a:xfrm>
            <a:off x="1015975" y="1525984"/>
            <a:ext cx="4546486" cy="2203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project is a responsive, full-stack financial technology (Fintech) web application designed to emulate a digital payment and customer wallet ecosystem.</a:t>
            </a:r>
            <a:endParaRPr lang="en-US" sz="16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It aligns with the functional specifications of India's Unified Payments Interface (UPI) and the Bharat Bill Payment System (BBPS).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324442" y="1246584"/>
            <a:ext cx="5156071" cy="4193877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6" name="Text 4"/>
          <p:cNvSpPr/>
          <p:nvPr/>
        </p:nvSpPr>
        <p:spPr>
          <a:xfrm>
            <a:off x="6629234" y="1525984"/>
            <a:ext cx="4546486" cy="363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Problem: Modern digital banking systems face complex engineering challenges.</a:t>
            </a:r>
            <a:endParaRPr lang="en-US" sz="1650" dirty="0"/>
          </a:p>
          <a:p>
            <a:pPr marL="0" indent="0" algn="l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Systems require high availability and strict transaction atomicity.</a:t>
            </a:r>
            <a:endParaRPr lang="en-US" sz="1650" dirty="0"/>
          </a:p>
          <a:p>
            <a:pPr marL="0" indent="0" algn="l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Systems require low latency for seamless peer-to-peer (P2P) and peer-to-merchant (P2M) transactions.</a:t>
            </a:r>
            <a:endParaRPr lang="en-US" sz="16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Systems must strictly adhere to regulatory constraints, such as Reserve Bank of India (RBI) and NPCI mandates on Know Your Customer (KYC).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8043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Objectives &amp; 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11182" y="1246584"/>
            <a:ext cx="5232269" cy="140067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4" name="Text 2"/>
          <p:cNvSpPr/>
          <p:nvPr/>
        </p:nvSpPr>
        <p:spPr>
          <a:xfrm>
            <a:off x="1015975" y="1500584"/>
            <a:ext cx="462268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Develop a stateless multi-factor authentication and MPIN engine using JWT session tokens.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248244" y="1246584"/>
            <a:ext cx="5232269" cy="140067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6" name="Text 4"/>
          <p:cNvSpPr/>
          <p:nvPr/>
        </p:nvSpPr>
        <p:spPr>
          <a:xfrm>
            <a:off x="6553036" y="1500584"/>
            <a:ext cx="4622684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Build a double-entry multi-bucket wallet architecture for atomic balance management across main, cashback, and refund accounts.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11182" y="2951956"/>
            <a:ext cx="5232269" cy="1103114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8" name="Text 6"/>
          <p:cNvSpPr/>
          <p:nvPr/>
        </p:nvSpPr>
        <p:spPr>
          <a:xfrm>
            <a:off x="1015975" y="3205956"/>
            <a:ext cx="462268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 an integrated BBPS utility payment gateway and a UPI/QR code ecosystem.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48244" y="2951956"/>
            <a:ext cx="5232269" cy="1103114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36" y="3205956"/>
            <a:ext cx="462268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Frontend Stack: React 18, Vite, and HTML5-QRCode.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11182" y="4359771"/>
            <a:ext cx="5232269" cy="140067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15975" y="4613771"/>
            <a:ext cx="492747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Backend Stack: Modular Node.js backend.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48244" y="4359771"/>
            <a:ext cx="5232269" cy="140067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36" y="4613771"/>
            <a:ext cx="4622684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Database: PostgreSQL with a dual-mode pattern providing a deterministic in-memory mock engine fallback.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72643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1182" y="1224359"/>
            <a:ext cx="11378915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system adopts a classic Three-Tier Client-Server Architecture.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11182" y="1699716"/>
            <a:ext cx="3386549" cy="1978620"/>
          </a:xfrm>
          <a:prstGeom prst="rect">
            <a:avLst/>
          </a:prstGeom>
          <a:solidFill>
            <a:srgbClr val="00756D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1953716"/>
            <a:ext cx="292936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Tier 1 (Presentation):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9776" y="2466082"/>
            <a:ext cx="2929360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 separation for the presentation layer handling the responsive user interface.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402523" y="1699716"/>
            <a:ext cx="3386549" cy="1978620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8" name="Text 6"/>
          <p:cNvSpPr/>
          <p:nvPr/>
        </p:nvSpPr>
        <p:spPr>
          <a:xfrm>
            <a:off x="4631118" y="1953716"/>
            <a:ext cx="292936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Tier 2 (Business Logic):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31118" y="2466082"/>
            <a:ext cx="2929360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dedicated layer handling financial rules, authentication, and integration processing.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93865" y="1699716"/>
            <a:ext cx="3386549" cy="1978620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1" name="Text 9"/>
          <p:cNvSpPr/>
          <p:nvPr/>
        </p:nvSpPr>
        <p:spPr>
          <a:xfrm>
            <a:off x="8322459" y="1953716"/>
            <a:ext cx="2929360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Tier 3 (Persistent Storage):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2459" y="2829223"/>
            <a:ext cx="2929360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Managed by PostgreSQL and dual-mode data connectors.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1182" y="3906937"/>
            <a:ext cx="11378915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C9CFE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Methodology:</a:t>
            </a: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Developed using an Agile Iterative Lifecycle spanning 5 sprints.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318643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11182" y="916384"/>
            <a:ext cx="5232269" cy="1693664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75" y="1195784"/>
            <a:ext cx="41909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5975" y="1735534"/>
            <a:ext cx="462268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Seamless wallet management allowing users to add money and withdraw to linked accounts.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248244" y="916384"/>
            <a:ext cx="5232269" cy="1693664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1195784"/>
            <a:ext cx="419090" cy="419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53036" y="1735534"/>
            <a:ext cx="462268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QR code generation and live camera scanning for fast UPI experiences.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11182" y="2914749"/>
            <a:ext cx="5232269" cy="1991221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75" y="3194149"/>
            <a:ext cx="419090" cy="4191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5975" y="3733899"/>
            <a:ext cx="4622684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Unified utility suite for mobile recharges, electricity payments, and broadband settlements via BBPS.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6248244" y="2914749"/>
            <a:ext cx="5232269" cy="1991221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36" y="3194149"/>
            <a:ext cx="419090" cy="4191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53036" y="3733899"/>
            <a:ext cx="4622684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Wealth and travel micro-services including investment simulations and flight bookings.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711182" y="5210671"/>
            <a:ext cx="10769331" cy="1345307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975" y="5464671"/>
            <a:ext cx="419090" cy="4191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15975" y="6004421"/>
            <a:ext cx="10464538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Rewards engine featuring interactive scratch cards and instant cashback.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72643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Authentication, Security &amp; Compliance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88978" y="1589484"/>
            <a:ext cx="76198" cy="746423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4" name="Shape 2"/>
          <p:cNvSpPr/>
          <p:nvPr/>
        </p:nvSpPr>
        <p:spPr>
          <a:xfrm>
            <a:off x="711182" y="1373584"/>
            <a:ext cx="431789" cy="4318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3041" y="1405334"/>
            <a:ext cx="777558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46166" y="1373584"/>
            <a:ext cx="1013434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Security Protocol: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46166" y="1885950"/>
            <a:ext cx="1013434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Utilizes a double authorization barrier requiring interactive 4-digit MPIN validation for high-risk actions.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88978" y="2335907"/>
            <a:ext cx="76198" cy="1114623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9" name="Shape 7"/>
          <p:cNvSpPr/>
          <p:nvPr/>
        </p:nvSpPr>
        <p:spPr>
          <a:xfrm>
            <a:off x="711182" y="2488307"/>
            <a:ext cx="431789" cy="4318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722" y="2520057"/>
            <a:ext cx="798195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346166" y="2488307"/>
            <a:ext cx="1013434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Multi-Factor Onboarding: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46166" y="3000673"/>
            <a:ext cx="1013434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Employs phone number discovery, OTP handshakes, and MPIN creation.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88978" y="3450630"/>
            <a:ext cx="76198" cy="1114623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4" name="Shape 12"/>
          <p:cNvSpPr/>
          <p:nvPr/>
        </p:nvSpPr>
        <p:spPr>
          <a:xfrm>
            <a:off x="711182" y="3603030"/>
            <a:ext cx="431789" cy="4318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26" y="3634780"/>
            <a:ext cx="79928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1346166" y="3603030"/>
            <a:ext cx="1013434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Regulatory eKYC: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46166" y="4115395"/>
            <a:ext cx="1013434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Incorporates Aadhaar and PAN verification workflows.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88978" y="4565352"/>
            <a:ext cx="76198" cy="3683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182" y="4717752"/>
            <a:ext cx="431789" cy="4318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EB53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487" y="4749502"/>
            <a:ext cx="81476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1346166" y="4717752"/>
            <a:ext cx="1013434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 Upgrades: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46166" y="5230118"/>
            <a:ext cx="1013434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Enforces strict RBI KYC compliance checks before upgrading a consumer account to a merchant account.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330200"/>
            <a:ext cx="10769331" cy="687784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3" name="Text 1"/>
          <p:cNvSpPr/>
          <p:nvPr/>
        </p:nvSpPr>
        <p:spPr>
          <a:xfrm>
            <a:off x="939776" y="471043"/>
            <a:ext cx="10312142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36" dirty="0">
                <a:solidFill>
                  <a:srgbClr val="C9CFE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Testing Strategy &amp; Outcomes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1182" y="1205309"/>
            <a:ext cx="5232269" cy="140067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5" name="Text 3"/>
          <p:cNvSpPr/>
          <p:nvPr/>
        </p:nvSpPr>
        <p:spPr>
          <a:xfrm>
            <a:off x="990575" y="1459309"/>
            <a:ext cx="4673483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Unit Testing: Verified core mathematical functions, ledger balance calculations, and input masking.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248244" y="1205309"/>
            <a:ext cx="5232269" cy="140067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7" name="Text 5"/>
          <p:cNvSpPr/>
          <p:nvPr/>
        </p:nvSpPr>
        <p:spPr>
          <a:xfrm>
            <a:off x="6527637" y="1459309"/>
            <a:ext cx="4673483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API &amp; UI Testing: Validated all REST endpoints and verified layout compatibility across mobile, tablet, and desktop viewports.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11182" y="2910780"/>
            <a:ext cx="5232269" cy="1698228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9" name="Text 7"/>
          <p:cNvSpPr/>
          <p:nvPr/>
        </p:nvSpPr>
        <p:spPr>
          <a:xfrm>
            <a:off x="990575" y="3164780"/>
            <a:ext cx="4673483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Hardware Testing: Tested the html5-qrcode library across various lighting conditions to ensure reliable camera access.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248244" y="2910780"/>
            <a:ext cx="5232269" cy="1698228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1" name="Text 9"/>
          <p:cNvSpPr/>
          <p:nvPr/>
        </p:nvSpPr>
        <p:spPr>
          <a:xfrm>
            <a:off x="6527637" y="3164780"/>
            <a:ext cx="4673483" cy="119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Final Outcome: Successfully delivered a zero-setup, fully functional digital wallet demonstrating robust technical and regulatory implementation.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550</Words>
  <Application>Microsoft Office PowerPoint</Application>
  <PresentationFormat>Widescreen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Fira Sans</vt:lpstr>
      <vt:lpstr>Fira Sans SemiBold</vt:lpstr>
      <vt:lpstr>Overpass Mono Medium</vt:lpstr>
      <vt:lpstr>Arial</vt:lpstr>
      <vt:lpstr>Fira Sans Bold</vt:lpstr>
      <vt:lpstr>Encode Sans Semi Condensed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Akshat Verma</cp:lastModifiedBy>
  <cp:revision>2</cp:revision>
  <dcterms:created xsi:type="dcterms:W3CDTF">2026-10-11T19:04:11Z</dcterms:created>
  <dcterms:modified xsi:type="dcterms:W3CDTF">2026-10-11T19:22:37Z</dcterms:modified>
</cp:coreProperties>
</file>